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0050" y="500000"/>
            <a:ext cx="60000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555555"/>
                </a:solidFill>
                <a:latin typeface="Calibri"/>
              </a:rPr>
              <a:t>EXECUTIVE BRIEFING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00050" y="900000"/>
            <a:ext cx="10800000" cy="1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000000"/>
                </a:solidFill>
                <a:latin typeface="Calibri Light"/>
              </a:rPr>
              <a:t>Measuring What Marketing Spend</a:t>
            </a:r>
            <a:br/>
            <a:r>
              <a:rPr sz="3600" b="1">
                <a:solidFill>
                  <a:srgbClr val="000000"/>
                </a:solidFill>
                <a:latin typeface="Calibri Light"/>
              </a:rPr>
              <a:t>Actually Drives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00050" y="2350000"/>
            <a:ext cx="10200000" cy="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A validated view of how Search, Social, Direct Mail, and Affiliate spend convert into applications and funded revenue.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050" y="2857500"/>
            <a:ext cx="2596650" cy="11239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1500" y="3009900"/>
            <a:ext cx="225375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555555"/>
                </a:solidFill>
                <a:latin typeface="Calibri"/>
              </a:rPr>
              <a:t>TIME HORIZON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3267075"/>
            <a:ext cx="2253750" cy="4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000000"/>
                </a:solidFill>
                <a:latin typeface="Calibri Light"/>
              </a:rPr>
              <a:t>78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3676650"/>
            <a:ext cx="225375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4 regions, all channels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30050" y="2857500"/>
            <a:ext cx="2596650" cy="11239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01500" y="3009900"/>
            <a:ext cx="225375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555555"/>
                </a:solidFill>
                <a:latin typeface="Calibri"/>
              </a:rPr>
              <a:t>CHANNELS MEASURED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01500" y="3267075"/>
            <a:ext cx="2253750" cy="4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000000"/>
                </a:solidFill>
                <a:latin typeface="Calibri Light"/>
              </a:rPr>
              <a:t>4 channels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01500" y="3676650"/>
            <a:ext cx="225375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Search, Social, Direct Mail, Affiliate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60050" y="2857500"/>
            <a:ext cx="2596650" cy="11239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1500" y="3009900"/>
            <a:ext cx="225375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555555"/>
                </a:solidFill>
                <a:latin typeface="Calibri"/>
              </a:rPr>
              <a:t>VALIDATION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1500" y="3267075"/>
            <a:ext cx="2253750" cy="4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000000"/>
                </a:solidFill>
                <a:latin typeface="Calibri Light"/>
              </a:rPr>
              <a:t>2 live experiments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1500" y="3676650"/>
            <a:ext cx="225375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Independent market tests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0050" y="2857500"/>
            <a:ext cx="2596650" cy="11239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61500" y="3009900"/>
            <a:ext cx="225375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555555"/>
                </a:solidFill>
                <a:latin typeface="Calibri"/>
              </a:rPr>
              <a:t>OUTCOMES TRACKED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61500" y="3267075"/>
            <a:ext cx="2253750" cy="4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000000"/>
                </a:solidFill>
                <a:latin typeface="Calibri Light"/>
              </a:rPr>
              <a:t>Apps + Revenue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61500" y="3676650"/>
            <a:ext cx="225375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Full funnel, region by region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4514850"/>
            <a:ext cx="76200" cy="76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1550" y="4438650"/>
            <a:ext cx="106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Ties marketing spend directly to business outcomes, not just clicks or impressions.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4894850"/>
            <a:ext cx="762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1550" y="4818650"/>
            <a:ext cx="106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Checked against real market experiments, not only historical patterns.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2000" y="5274850"/>
            <a:ext cx="762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1550" y="5198650"/>
            <a:ext cx="106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Built to guide budget decisions with a quantified level of confidence.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0050" y="6286500"/>
            <a:ext cx="113919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96500" y="6419850"/>
            <a:ext cx="169545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calmmm executive briefing /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0050" y="361950"/>
            <a:ext cx="60000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555555"/>
                </a:solidFill>
                <a:latin typeface="Calibri"/>
              </a:rP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00050" y="781050"/>
            <a:ext cx="10000000" cy="9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150" b="1">
                <a:solidFill>
                  <a:srgbClr val="000000"/>
                </a:solidFill>
                <a:latin typeface="Calibri Light"/>
              </a:rPr>
              <a:t>Is our marketing spend working — and where</a:t>
            </a:r>
            <a:br/>
            <a:r>
              <a:rPr sz="3150" b="1">
                <a:solidFill>
                  <a:srgbClr val="000000"/>
                </a:solidFill>
                <a:latin typeface="Calibri Light"/>
              </a:rPr>
              <a:t>should the next dollar go?</a:t>
            </a:r>
          </a:p>
        </p:txBody>
      </p:sp>
      <p:sp>
        <p:nvSpPr>
          <p:cNvPr id="4" name="Rectangle 3"/>
          <p:cNvSpPr/>
          <p:nvPr/>
        </p:nvSpPr>
        <p:spPr>
          <a:xfrm>
            <a:off x="400050" y="1700000"/>
            <a:ext cx="10500000" cy="590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Across four channels and two outcomes, we need one model that tells us what's driving results, not four disconnected views.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050" y="2971800"/>
            <a:ext cx="530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555555"/>
                </a:solidFill>
                <a:latin typeface="Calibri"/>
              </a:rPr>
              <a:t>WITHOUT A VALIDATED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1900" y="2971800"/>
            <a:ext cx="530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6B35"/>
                </a:solidFill>
                <a:latin typeface="Calibri"/>
              </a:rPr>
              <a:t>WITH A VALIDATED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76250" y="3471800"/>
            <a:ext cx="76200" cy="762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95600"/>
            <a:ext cx="50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Budget calls rely on gut feel or last-touch attribution.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6250" y="4091800"/>
            <a:ext cx="76200" cy="762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015600"/>
            <a:ext cx="50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No clean way to separate correlation from cause and effect.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6250" y="4711800"/>
            <a:ext cx="76200" cy="762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4635600"/>
            <a:ext cx="50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Channel performance gets debated, not settled.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68100" y="3471800"/>
            <a:ext cx="76200" cy="76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77650" y="3395600"/>
            <a:ext cx="50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Spend is tied to applications and revenue, region by region.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8100" y="4091800"/>
            <a:ext cx="76200" cy="76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77650" y="4015600"/>
            <a:ext cx="50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Model predictions are checked against real controlled experiments.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68100" y="4711800"/>
            <a:ext cx="76200" cy="76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77650" y="4635600"/>
            <a:ext cx="50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A clear, quantified view of what's actually working.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1238" y="2971800"/>
            <a:ext cx="9525" cy="2200000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0050" y="6286500"/>
            <a:ext cx="113919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96500" y="6419850"/>
            <a:ext cx="169545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calmmm executive briefing /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0050" y="361950"/>
            <a:ext cx="60000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555555"/>
                </a:solidFill>
                <a:latin typeface="Calibri"/>
              </a:rPr>
              <a:t>HOW WE VALIDATE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00050" y="781050"/>
            <a:ext cx="10000000" cy="9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150" b="1">
                <a:solidFill>
                  <a:srgbClr val="000000"/>
                </a:solidFill>
                <a:latin typeface="Calibri Light"/>
              </a:rPr>
              <a:t>We check the model against real market tests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00050" y="1700000"/>
            <a:ext cx="10500000" cy="590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Two independent experiments — a search geo-holdout and a direct-mail matched-market test — tell us whether the model's math matches what actually happened.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050" y="2971800"/>
            <a:ext cx="5495000" cy="26000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1500" y="3171800"/>
            <a:ext cx="51521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000000"/>
                </a:solidFill>
                <a:latin typeface="Calibri"/>
              </a:rPr>
              <a:t>SEARCH EXPERIMENT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3571800"/>
            <a:ext cx="51521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Northeast &amp; West · April 2024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3971800"/>
            <a:ext cx="5152100" cy="7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50" b="0">
                <a:solidFill>
                  <a:srgbClr val="000000"/>
                </a:solidFill>
                <a:latin typeface="Calibri"/>
              </a:rPr>
              <a:t>Search spend was held back in two regions for four weeks, and we measured the real change in applications.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" y="4871800"/>
            <a:ext cx="5152100" cy="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50" b="1">
                <a:solidFill>
                  <a:srgbClr val="000000"/>
                </a:solidFill>
                <a:latin typeface="Calibri"/>
              </a:rPr>
              <a:t>Result: the model's prediction now closely matches the real-world outcome.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5050" y="2971800"/>
            <a:ext cx="5495000" cy="2600000"/>
          </a:xfrm>
          <a:prstGeom prst="rect">
            <a:avLst/>
          </a:prstGeom>
          <a:solidFill>
            <a:srgbClr val="FF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66500" y="3171800"/>
            <a:ext cx="51521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000000"/>
                </a:solidFill>
                <a:latin typeface="Calibri"/>
              </a:rPr>
              <a:t>DIRECT MAIL EXPERIMENT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6500" y="3571800"/>
            <a:ext cx="51521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Southeast &amp; Midwest · Aug 2024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6500" y="3971800"/>
            <a:ext cx="5152100" cy="7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50" b="0">
                <a:solidFill>
                  <a:srgbClr val="000000"/>
                </a:solidFill>
                <a:latin typeface="Calibri"/>
              </a:rPr>
              <a:t>Matched markets with and without direct mail were compared to measure the real change in funded revenue.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6500" y="4871800"/>
            <a:ext cx="5152100" cy="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50" b="1">
                <a:solidFill>
                  <a:srgbClr val="000000"/>
                </a:solidFill>
                <a:latin typeface="Calibri"/>
              </a:rPr>
              <a:t>Result: closer than before, but not yet fully aligned — still under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0050" y="6286500"/>
            <a:ext cx="113919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096500" y="6419850"/>
            <a:ext cx="169545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calmmm executive briefing /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0050" y="361950"/>
            <a:ext cx="60000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555555"/>
                </a:solidFill>
                <a:latin typeface="Calibri"/>
              </a:rPr>
              <a:t>HEADLINE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400050" y="781050"/>
            <a:ext cx="10000000" cy="9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150" b="1">
                <a:solidFill>
                  <a:srgbClr val="000000"/>
                </a:solidFill>
                <a:latin typeface="Calibri Light"/>
              </a:rPr>
              <a:t>Model accuracy roughly doubled for applications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00050" y="1700000"/>
            <a:ext cx="10500000" cy="590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We fixed how the model incorporated real-world experiment data. The result: substantially more trustworthy predictions, especially for applications.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050" y="3200000"/>
            <a:ext cx="3400000" cy="14000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1500" y="3352400"/>
            <a:ext cx="30571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555555"/>
                </a:solidFill>
                <a:latin typeface="Calibri"/>
              </a:rPr>
              <a:t>APPLICATIONS ACCURACY (BEFORE)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3609575"/>
            <a:ext cx="3057100" cy="4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000000"/>
                </a:solidFill>
                <a:latin typeface="Calibri Light"/>
              </a:rPr>
              <a:t>48%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4019150"/>
            <a:ext cx="30571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of week-to-week movement explained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00050" y="3650000"/>
            <a:ext cx="900000" cy="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FF6B35"/>
                </a:solidFill>
                <a:latin typeface="Calibri Light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00050" y="3200000"/>
            <a:ext cx="3400000" cy="1400000"/>
          </a:xfrm>
          <a:prstGeom prst="rect">
            <a:avLst/>
          </a:prstGeom>
          <a:solidFill>
            <a:srgbClr val="FFE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71500" y="3352400"/>
            <a:ext cx="30571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555555"/>
                </a:solidFill>
                <a:latin typeface="Calibri"/>
              </a:rPr>
              <a:t>APPLICATIONS ACCURACY (NOW)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71500" y="3609575"/>
            <a:ext cx="3057100" cy="4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000000"/>
                </a:solidFill>
                <a:latin typeface="Calibri Light"/>
              </a:rPr>
              <a:t>96%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71500" y="4019150"/>
            <a:ext cx="30571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of week-to-week movement explained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" y="4900000"/>
            <a:ext cx="3400000" cy="14000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1500" y="5052400"/>
            <a:ext cx="30571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555555"/>
                </a:solidFill>
                <a:latin typeface="Calibri"/>
              </a:rPr>
              <a:t>FUNDED REVENUE ACCURACY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5309575"/>
            <a:ext cx="3057100" cy="4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 b="1">
                <a:solidFill>
                  <a:srgbClr val="000000"/>
                </a:solidFill>
                <a:latin typeface="Calibri Light"/>
              </a:rPr>
              <a:t>97%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5719150"/>
            <a:ext cx="30571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already strong — confirmed stable through this update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" y="6286500"/>
            <a:ext cx="113919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96500" y="6419850"/>
            <a:ext cx="169545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calmmm executive briefing /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0050" y="361950"/>
            <a:ext cx="60000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555555"/>
                </a:solidFill>
                <a:latin typeface="Calibri"/>
              </a:rPr>
              <a:t>CHANNEL ROI</a:t>
            </a:r>
          </a:p>
        </p:txBody>
      </p:sp>
      <p:sp>
        <p:nvSpPr>
          <p:cNvPr id="3" name="Rectangle 2"/>
          <p:cNvSpPr/>
          <p:nvPr/>
        </p:nvSpPr>
        <p:spPr>
          <a:xfrm>
            <a:off x="400050" y="781050"/>
            <a:ext cx="10000000" cy="9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150" b="1">
                <a:solidFill>
                  <a:srgbClr val="000000"/>
                </a:solidFill>
                <a:latin typeface="Calibri Light"/>
              </a:rPr>
              <a:t>Search and Social show the strongest validated return</a:t>
            </a:r>
          </a:p>
        </p:txBody>
      </p:sp>
      <p:sp>
        <p:nvSpPr>
          <p:cNvPr id="4" name="Rectangle 3"/>
          <p:cNvSpPr/>
          <p:nvPr/>
        </p:nvSpPr>
        <p:spPr>
          <a:xfrm>
            <a:off x="400050" y="1700000"/>
            <a:ext cx="10500000" cy="590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Revenue return per dollar spent, with confidence based on how well each channel's results match independent evidence.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050" y="2971800"/>
            <a:ext cx="240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555555"/>
                </a:solidFill>
                <a:latin typeface="Calibri"/>
              </a:rPr>
              <a:t>CHANNEL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2971800"/>
            <a:ext cx="190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555555"/>
                </a:solidFill>
                <a:latin typeface="Calibri"/>
              </a:rPr>
              <a:t>REVENUE ROI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0" y="2971800"/>
            <a:ext cx="63919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555555"/>
                </a:solidFill>
                <a:latin typeface="Calibri"/>
              </a:rPr>
              <a:t>CONFIDENCE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50" y="3351800"/>
            <a:ext cx="113919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0050" y="3471800"/>
            <a:ext cx="2400000" cy="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Search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71800" y="3471800"/>
            <a:ext cx="1900000" cy="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$3.95 per $1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0" y="3501800"/>
            <a:ext cx="762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09550" y="3441800"/>
            <a:ext cx="6182350" cy="6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High — confirmed by live experiment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0050" y="4071800"/>
            <a:ext cx="11391900" cy="9525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0050" y="4271800"/>
            <a:ext cx="2400000" cy="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Social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71800" y="4271800"/>
            <a:ext cx="1900000" cy="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$3.02 per $1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00000" y="4301800"/>
            <a:ext cx="762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09550" y="4241800"/>
            <a:ext cx="6182350" cy="6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High — stable across the full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" y="4871800"/>
            <a:ext cx="11391900" cy="9525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0050" y="5071800"/>
            <a:ext cx="2400000" cy="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Direct Mail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71800" y="5071800"/>
            <a:ext cx="1900000" cy="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$2.68 per $1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0" y="5101800"/>
            <a:ext cx="76200" cy="76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09550" y="5041800"/>
            <a:ext cx="6182350" cy="6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Medium — directionally consistent, still reconciling with experiment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0050" y="5671800"/>
            <a:ext cx="11391900" cy="9525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0050" y="5871800"/>
            <a:ext cx="2400000" cy="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Affiliate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71800" y="5871800"/>
            <a:ext cx="1900000" cy="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Negative / unstable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00000" y="5901800"/>
            <a:ext cx="76200" cy="762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09550" y="5841800"/>
            <a:ext cx="6182350" cy="6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Low — small spend share, noisy estimate, needs more 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0050" y="6471800"/>
            <a:ext cx="11391900" cy="9525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0050" y="6286500"/>
            <a:ext cx="113919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96500" y="6419850"/>
            <a:ext cx="169545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calmmm executive briefing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0050" y="361950"/>
            <a:ext cx="60000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555555"/>
                </a:solidFill>
                <a:latin typeface="Calibri"/>
              </a:rPr>
              <a:t>RECOMMENDATION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00050" y="781050"/>
            <a:ext cx="10000000" cy="9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150" b="1">
                <a:solidFill>
                  <a:srgbClr val="000000"/>
                </a:solidFill>
                <a:latin typeface="Calibri Light"/>
              </a:rPr>
              <a:t>Use these results to guide Search and Social budget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00050" y="1700000"/>
            <a:ext cx="10500000" cy="590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Direct Mail and Affiliate need one more validation cycle before we act on their numbers.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2971800"/>
            <a:ext cx="76200" cy="76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1550" y="2895600"/>
            <a:ext cx="106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Shift incremental budget testing toward Search and Social, where the model and the live experiment agree.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671800"/>
            <a:ext cx="762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71550" y="3595600"/>
            <a:ext cx="106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Hold Direct Mail budget decisions to directional guidance only, until the next validation check closes the gap.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4371800"/>
            <a:ext cx="762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1550" y="4295600"/>
            <a:ext cx="106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Commission a small experiment for Affiliate and Social to bring them to the same confidence level as Search.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5071800"/>
            <a:ext cx="762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1550" y="4995600"/>
            <a:ext cx="10600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0">
                <a:solidFill>
                  <a:srgbClr val="000000"/>
                </a:solidFill>
                <a:latin typeface="Calibri"/>
              </a:rPr>
              <a:t>Refresh this model each quarter as new experiment data lands.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0050" y="6286500"/>
            <a:ext cx="113919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96500" y="6419850"/>
            <a:ext cx="169545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900" b="0">
                <a:solidFill>
                  <a:srgbClr val="555555"/>
                </a:solidFill>
                <a:latin typeface="Calibri"/>
              </a:rPr>
              <a:t>calmmm executive briefing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