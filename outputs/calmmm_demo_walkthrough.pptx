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f405b09c7d74e2e" Type="http://schemas.openxmlformats.org/officeDocument/2006/relationships/officeDocument" Target="ppt/presentation.xml"/><Relationship Id="R2fc66ba5e7e44cb9" Type="http://schemas.openxmlformats.org/officeDocument/2006/relationships/extended-properties" Target="docProps/app.xml"/><Relationship Id="Rb0c83d98274247d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c1aed8bcb4c76"/>
  </p:sldMasterIdLst>
  <p:notesMasterIdLst>
    <p:notesMasterId xmlns:r="http://schemas.openxmlformats.org/officeDocument/2006/relationships" r:id="R6e13975a16a04144"/>
  </p:notesMasterIdLst>
  <p:sldIdLst>
    <p:sldId xmlns:r="http://schemas.openxmlformats.org/officeDocument/2006/relationships" id="256" r:id="R8d9857c6914e44f7"/>
    <p:sldId xmlns:r="http://schemas.openxmlformats.org/officeDocument/2006/relationships" id="257" r:id="R4c5cf469fcea41d4"/>
    <p:sldId xmlns:r="http://schemas.openxmlformats.org/officeDocument/2006/relationships" id="258" r:id="R4d88c29b80024741"/>
    <p:sldId xmlns:r="http://schemas.openxmlformats.org/officeDocument/2006/relationships" id="259" r:id="R890197644f544c45"/>
    <p:sldId xmlns:r="http://schemas.openxmlformats.org/officeDocument/2006/relationships" id="260" r:id="R7831d9e030bd4bee"/>
    <p:sldId xmlns:ns0="http://schemas.openxmlformats.org/officeDocument/2006/relationships" id="263" ns0:id="rId13"/>
    <p:sldId xmlns:r="http://schemas.openxmlformats.org/officeDocument/2006/relationships" id="261" r:id="R848c3746d6354194"/>
    <p:sldId xmlns:r="http://schemas.openxmlformats.org/officeDocument/2006/relationships" id="262" r:id="R6a6fd7eaef6140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4c5cf469fcea41d4" Type="http://schemas.openxmlformats.org/officeDocument/2006/relationships/slide" Target="slides/slide2.xml"/><Relationship Id="R4d88c29b80024741" Type="http://schemas.openxmlformats.org/officeDocument/2006/relationships/slide" Target="slides/slide3.xml"/><Relationship Id="R6a6fd7eaef614032" Type="http://schemas.openxmlformats.org/officeDocument/2006/relationships/slide" Target="slides/slide8.xml"/><Relationship Id="R6e13975a16a04144" Type="http://schemas.openxmlformats.org/officeDocument/2006/relationships/notesMaster" Target="notesMasters/notesMaster1.xml"/><Relationship Id="R7831d9e030bd4bee" Type="http://schemas.openxmlformats.org/officeDocument/2006/relationships/slide" Target="slides/slide5.xml"/><Relationship Id="R848c3746d6354194" Type="http://schemas.openxmlformats.org/officeDocument/2006/relationships/slide" Target="slides/slide7.xml"/><Relationship Id="R890197644f544c45" Type="http://schemas.openxmlformats.org/officeDocument/2006/relationships/slide" Target="slides/slide4.xml"/><Relationship Id="R8d9857c6914e44f7" Type="http://schemas.openxmlformats.org/officeDocument/2006/relationships/slide" Target="slides/slide1.xml"/><Relationship Id="R8efc1aed8bcb4c76" Type="http://schemas.openxmlformats.org/officeDocument/2006/relationships/slideMaster" Target="slideMasters/slideMaster1.xml"/><Relationship Id="Rc63a43bae68c4626" Type="http://schemas.openxmlformats.org/officeDocument/2006/relationships/tableStyles" Target="tableStyles.xml"/><Relationship Id="Rd833af879e9c40c4" Type="http://schemas.openxmlformats.org/officeDocument/2006/relationships/presProps" Target="presProps.xml"/><Relationship Id="Re7313ee098494084" Type="http://schemas.openxmlformats.org/officeDocument/2006/relationships/theme" Target="theme/theme1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0a8d7ad29e3a407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f91c16c41154758" Type="http://schemas.openxmlformats.org/officeDocument/2006/relationships/slide" Target="../slides/slide1.xml"/><Relationship Id="Rbb2f94d85245402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87040b4745a42ec" Type="http://schemas.openxmlformats.org/officeDocument/2006/relationships/notesMaster" Target="../notesMasters/notesMaster1.xml"/><Relationship Id="Rfeb18f0cb4a5414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23779a1754b4401" Type="http://schemas.openxmlformats.org/officeDocument/2006/relationships/slide" Target="../slides/slide3.xml"/><Relationship Id="Rc7ec483c40df4ed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3e0ff4faf09464f" Type="http://schemas.openxmlformats.org/officeDocument/2006/relationships/slide" Target="../slides/slide4.xml"/><Relationship Id="R8e4ae2d490bd464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9d023dea6c54649" Type="http://schemas.openxmlformats.org/officeDocument/2006/relationships/slide" Target="../slides/slide5.xml"/><Relationship Id="Rcedc16238a4b400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6a7f96c5f2f45aa" Type="http://schemas.openxmlformats.org/officeDocument/2006/relationships/slide" Target="../slides/slide7.xml"/><Relationship Id="Rfccd6acc08a24c8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297d5fce33e4923" Type="http://schemas.openxmlformats.org/officeDocument/2006/relationships/slide" Target="../slides/slide8.xml"/><Relationship Id="Rbf2ee2d718cb48e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3581ab45b68436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2c10f5591564d4c" Type="http://schemas.openxmlformats.org/officeDocument/2006/relationships/theme" Target="theme/theme2.xml"/><Relationship Id="Re99d621ebd8641f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d621ebd86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b099ace52b24a0d" Type="http://schemas.openxmlformats.org/officeDocument/2006/relationships/slideLayout" Target="../slideLayouts/slideLayout1.xml"/><Relationship Id="R73c02860cb544f8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929da4c972a49a6" Type="http://schemas.openxmlformats.org/officeDocument/2006/relationships/notesSlide" Target="../notesSlides/notesSlide2.xml"/><Relationship Id="Rae902222a7f74ebe" Type="http://schemas.openxmlformats.org/officeDocument/2006/relationships/chart" Target="charts/chart1.xml"/><Relationship Id="Rd6c7a82ff42b41c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92e0066aa7b41d3" Type="http://schemas.openxmlformats.org/officeDocument/2006/relationships/slideLayout" Target="../slideLayouts/slideLayout1.xml"/><Relationship Id="Rffedebf1953c422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a7b6f70331f4d08" Type="http://schemas.openxmlformats.org/officeDocument/2006/relationships/notesSlide" Target="../notesSlides/notesSlide4.xml"/><Relationship Id="R546de138b455463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15e6944f0204525" Type="http://schemas.openxmlformats.org/officeDocument/2006/relationships/slideLayout" Target="../slideLayouts/slideLayout1.xml"/><Relationship Id="Ra64bc37dbed14ed9" Type="http://schemas.openxmlformats.org/officeDocument/2006/relationships/notesSlide" Target="../notesSlides/notesSlide5.xml"/><Relationship Id="Rc5f8f1db10514595" Type="http://schemas.openxmlformats.org/officeDocument/2006/relationships/chart" Target="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d7499d372ca4cc9" Type="http://schemas.openxmlformats.org/officeDocument/2006/relationships/notesSlide" Target="../notesSlides/notesSlide6.xml"/><Relationship Id="R44f77f93d0a543de" Type="http://schemas.openxmlformats.org/officeDocument/2006/relationships/chart" Target="charts/chart3.xml"/><Relationship Id="R5d448ef84c434cdd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8cd322809735470a" Type="http://schemas.openxmlformats.org/officeDocument/2006/relationships/notesSlide" Target="../notesSlides/notesSlide7.xml"/><Relationship Id="Rc68a1319b5f14e7a" Type="http://schemas.openxmlformats.org/officeDocument/2006/relationships/slideLayout" Target="../slideLayouts/slideLayout1.xml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Spend share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Search</c:v>
              </c:pt>
              <c:pt idx="1">
                <c:v>Social</c:v>
              </c:pt>
              <c:pt idx="2">
                <c:v>Direct mail</c:v>
              </c:pt>
              <c:pt idx="3">
                <c:v>Affiliate</c:v>
              </c:pt>
            </c:strLit>
          </c:cat>
          <c:val>
            <c:numLit>
              <c:formatCode>General</c:formatCode>
              <c:ptCount val="4"/>
              <c:pt idx="0">
                <c:v>42.2</c:v>
              </c:pt>
              <c:pt idx="1">
                <c:v>21</c:v>
              </c:pt>
              <c:pt idx="2">
                <c:v>23.6</c:v>
              </c:pt>
              <c:pt idx="3">
                <c:v>13.2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calibration z-score</c:v>
                </c:pt>
              </c:strCache>
            </c:strRef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search_geo_holdout_q2</c:v>
                </c:pt>
                <c:pt idx="1">
                  <c:v>direct_mail_match_q3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0.48</c:v>
                </c:pt>
                <c:pt idx="1">
                  <c:v>-3.02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.0"/>
          <c:min val="-4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  <c:majorUnit val="1.0"/>
      </c:valAx>
    </c:plotArea>
    <c:plotVisOnly val="1"/>
  </c:chart>
  <c:externalData xmlns:ns0="http://schemas.openxmlformats.org/officeDocument/2006/relationships" ns0:id="rId1">
    <c:autoUpdate val="0"/>
  </c:externalData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ROI index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Search</c:v>
              </c:pt>
              <c:pt idx="1">
                <c:v>Social</c:v>
              </c:pt>
              <c:pt idx="2">
                <c:v>Direct mail</c:v>
              </c:pt>
              <c:pt idx="3">
                <c:v>Affiliate</c:v>
              </c:pt>
            </c:strLit>
          </c:cat>
          <c:val>
            <c:numLit>
              <c:formatCode>General</c:formatCode>
              <c:ptCount val="4"/>
              <c:pt idx="0">
                <c:v>174</c:v>
              </c:pt>
              <c:pt idx="1">
                <c:v>118</c:v>
              </c:pt>
              <c:pt idx="2">
                <c:v>231</c:v>
              </c:pt>
              <c:pt idx="3">
                <c:v>152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D1895-7A8C-4B76-9596-869B98D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PACKAGE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E9510-0806-4163-B799-5ACD2452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calmmm: calibrated hierarchical Bayesian MMM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1BC0C-2C6D-4A28-9E2E-A6035F8E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An editable end-to-end walkthrough using synthetic weekly credit-acquisition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992C7-C0E7-4D2F-BE8A-B827B0AF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78906-4C5E-4D6E-9B81-C5E50567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84238-1304-4818-966E-0B238BE5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BD6AD-CAB8-49C2-882C-31D7D690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78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CD5FC-DB23-4271-8056-2AA0687B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4 geos x 4 KPIs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799B-0ABC-44E3-B554-A9CDD20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53503-E0B5-44D8-8969-72392B6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MEDIA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1DAEA-284E-432B-A042-2EEC577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04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 channels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091FB-3C46-462F-8947-DBB0965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00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search, social, direct mail, affiliate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7A860-80E0-42E9-AA87-3FCE63E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908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3A598-BC4F-46A4-A7AD-A5870464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CALIBRATION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8D8E4-5BC0-4D06-BF43-D7FA836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04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 lift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8675C-04F0-4DC3-9D24-D934FEFB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geo holdout and matched-market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0D496-E08E-4082-B1F2-87FB4D56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7D82E-3437-45F5-B3E8-457769FB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DC2A3-DCC1-45B5-8E93-D100A770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04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ROI + curves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F4F5E-D6C2-40A1-A30C-ECC810C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attribution and saturation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81D6C-A92C-49AA-AB6C-C34F5FA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8F579-5D93-49C6-AAFF-09EC7BC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855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Built for multi-KPI media measurement across geographies.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ECC77-64E9-46D8-BAF2-A1A95E40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CECA0-2EB0-4C5F-B670-060E8B37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855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Combines MMM structure with incrementality calibration.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79216-9D73-4132-B280-719191A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5800E-956A-4069-8973-F4407A0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8553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Produces stakeholder-ready attribution, ROI, and validation outputs.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E249E-0314-41F4-9ABC-736FA4A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1</a:t>
            </a:r>
          </a:p>
        </p:txBody>
      </p:sp>
    </p:spTree>
    <p:extLst>
      <p:ext uri="{BB962C8B-B14F-4D97-AF65-F5344CB8AC3E}">
        <p14:creationId xmlns:p14="http://schemas.microsoft.com/office/powerpoint/2010/main" val="1005099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AD6A5-16C5-41AD-956A-CF77BD2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SAMPLE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53158-4887-4116-84A6-47AB86D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Synthetic data shaped like a production MMM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208E5-7354-45E2-AD86-84644682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The CSV is wide-format so it can pass directly into MMMData.from_dataframe(...).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68CEE-4D83-4D8E-A11A-41E8B15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EB62-1DC4-42D1-85EB-9D9EAEC6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Dataset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F7674-2A9D-45C4-B42F-2A59C3D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Time + geo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BFDB-2488-4A6E-BF00-08C43D04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0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week, geo, 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71358-C894-46EE-AAC2-CB21CEC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Media spend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78004-1047-4011-9192-8D6473F5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95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search, social, direct mail, affiliate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32DAB-723D-4109-96C8-A122114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78281-45BA-427F-8172-5B5F0E68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9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clicks, impressions, mail pieces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61B33-8C34-4923-803E-B1C8D34C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5D785-A2BF-4986-B136-9E1C66B5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86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price index, approval-rate 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D6CEB-19D3-4BF5-B267-68CC156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KPIs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C40F8-56C0-437A-962E-BF3F3292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81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visits, applications, approvals, funded revenue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858000" y="2781300"/>
          <a:ext xmlns:a="http://schemas.openxmlformats.org/drawingml/2006/main" cx="4476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902222a7f74eb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C221C-9270-48C6-A489-4A81D62F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Spend mix (%)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C8A7E-6E3B-4440-B938-43FAB1D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2</a:t>
            </a:r>
          </a:p>
        </p:txBody>
      </p:sp>
    </p:spTree>
    <p:extLst>
      <p:ext uri="{BB962C8B-B14F-4D97-AF65-F5344CB8AC3E}">
        <p14:creationId xmlns:p14="http://schemas.microsoft.com/office/powerpoint/2010/main" val="1094650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4A12B-929F-4EF6-AB44-3B28743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D3A63-943F-45A7-85F2-BBE1055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package path from raw panel to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9D1CA-DE2C-461B-88FB-1DEF0DB2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Each step maps to a public calmmm API object or output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25A7C-F29D-40E1-A2B4-75F2E20C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1EF26-84B3-4D4B-B1FA-70CA35A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171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199AD-E999-4537-882D-3F74CFF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7B455-EF61-4A0B-9A24-3DBCFAC3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Load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8B5E-51E1-4839-AFA3-789CB0DF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Read weekly data with one row per week x geo.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2F53A-38AC-4AA4-99EB-7B730166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5258E-DD63-408E-A130-F58200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57500"/>
            <a:ext cx="2171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DDA76-16CC-479D-B2A2-D49E58C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C2BCF-92BB-4893-861E-EA0E2A83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Build MMMData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95B12-54F3-4782-B8E9-5B8B5C8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Declare time, geo, KPIs, media, spend, exposure, controls.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F0F41-A0C3-4C26-AFD9-3D5A6AA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E94BE-5A11-4A0C-BEAA-B84D069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2171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71D0C-F182-4CC5-AE06-2B2AA90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90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4AFFA-3BAD-4587-81FC-B370335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Add lift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FB3C6-E8C9-4193-829E-518BDAED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719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Convert experiment rows into calibration targets.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CE05A-58FD-4F6C-91E7-56B8023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26C7B-B908-4FB1-A13B-E0E677F5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2171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7A990-88B3-4C4E-BE68-7ACD21BA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E9092-CE37-4699-A9C1-A7223EE1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03F2B-E7D4-4C24-8620-C54B8DB6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719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Run MAP for demo or MCMC for production posterior inference.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1DB6F-2938-4C05-B408-A2D70025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BCC4"/>
                </a:solidFill>
              </a:defRPr>
            </a:pPr>
            <a:r>
              <a:rPr sz="15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8A7AC-69AC-4F4A-A480-CDC44843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2171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D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63C46-6CBE-4AED-BB4E-3CFD7D34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9D2AC-E6CA-4082-B62B-70937040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Read outputs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B6F7B-5051-4D4C-9204-CFD8F558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719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Holdout metrics, calibration checks, ROI, curves.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CF100-0777-495F-AB4A-A6D83AE6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Minimal API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333E69-D9F8-4E7C-8585-8D33AB5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62550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MMMData.from_dataframe(...)  -&gt;  IncrementalityTests.from_dataframe(...)  -&gt;  HierarchicalMMM().fit(...)  -&gt;  compute_roi(fit)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29399C-26A6-43B0-AFAF-AC2E78BE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3</a:t>
            </a:r>
          </a:p>
        </p:txBody>
      </p:sp>
    </p:spTree>
    <p:extLst>
      <p:ext uri="{BB962C8B-B14F-4D97-AF65-F5344CB8AC3E}">
        <p14:creationId xmlns:p14="http://schemas.microsoft.com/office/powerpoint/2010/main" val="799005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1CC11C-910B-45D9-94C8-2483355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F0070-EC4B-4C3E-8152-32A47D02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Lift tests anchor model contributions to experimental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5243E-7EB3-4AF8-82C7-C94EBBE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The sample package includes two synthetic incrementality rows with standard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93EAE-92EF-48F8-A1BE-06CFBDAC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69CFF-8E64-45D8-B531-A4A21A8B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D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5787-0869-47E4-BC92-B31A88A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search_geo_holdout_q2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1B8E3-409B-4DE2-8517-F695B7C3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search -&gt;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DD393-1B5A-4422-AC67-A052407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Geos: Northeast,West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8143E-27B7-401D-A735-516A613D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Window: 2024-04-01 to 2024-04-29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91E89-67E1-4E26-8378-DB3A8E49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Observed lift: 1,180 +/- 2,600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D0805-0A55-4C4C-A605-6EF9B450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31E24-C73B-4AD8-AEB1-D05584BE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direct_mail_match_q3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FE655-BCFF-4A64-8A60-D18445EB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direct_mail -&gt; funded_revenue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CCDEC-FB19-4457-AA56-0F9CF85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Geos: Southeast,Midwest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C6F61-ABA9-4126-BCCB-515E663E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Window: 2024-08-05 to 2024-09-02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BED56-7561-4AE6-B5DD-32FE8472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Observed lift: $780K +/- $175K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209AF-CC86-44F1-84BC-6D2FCEC9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4</a:t>
            </a:r>
          </a:p>
        </p:txBody>
      </p:sp>
    </p:spTree>
    <p:extLst>
      <p:ext uri="{BB962C8B-B14F-4D97-AF65-F5344CB8AC3E}">
        <p14:creationId xmlns:p14="http://schemas.microsoft.com/office/powerpoint/2010/main" val="1955968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3AEB7-95DC-409A-972E-FA9F80C4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FIT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D3223-D6F4-4AB4-A904-BB820B4C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Fast demo fit, production posterior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6EACB-F5C5-4D7E-8F6D-827010A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Fit on the full 78-week panel with the lift tests' real dates; MAP maxeval raised to 2000 so it actually converges.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EE6A-F9A3-472B-830E-BB028EB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109D2-C2B9-4F6E-A0A1-0FCCEB8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1E2C6-EA04-4AE1-9209-73B6F00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DEMO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1698-0AC5-4AB8-AD3A-E61800A7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11E77-C6A6-4415-8BD0-736E32E5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maxeval=2000, full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51BD9-4A6D-415A-9EC9-F854125B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9D25B-CAA6-4677-B39C-5CAEE082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9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HOLDOUT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8A60A-136C-4593-872C-165B3393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670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26EB5-8C8E-4BE0-857A-161CF1CB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last time steps withheld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411C4-34D1-41FC-860A-DE126950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9ADF6-8A34-4C0A-9819-0BF52FB7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FIT QUALITY (R2)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52AC7-CE0A-409D-AD10-41852803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670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0.96 / 0.97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FAF8E-8B84-41E2-A2B4-611F95D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76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applications / funded revenue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02454-5B33-4259-AF41-74E0B8A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5CF8D-1EA2-4F36-87B3-E62CB2E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7E69C-91B4-41B4-B427-C94A0F5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670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MCMC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EA65C-80E5-4206-A538-E06CAA0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R-hat, ESS, divergences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B6A98-5107-43DD-95EA-C343118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5</a:t>
            </a:r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3048000" y="4572000"/>
            <a:ext cx="2381250" cy="11239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3219450" y="4724400"/>
            <a:ext cx="203835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555555"/>
                </a:solidFill>
              </a:rPr>
              <a:t>SEARCH TEST</a:t>
            </a:r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3219450" y="4981575"/>
            <a:ext cx="203835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50" b="1">
                <a:solidFill>
                  <a:srgbClr val="000000"/>
                </a:solidFill>
              </a:rPr>
              <a:t>z = 0.48</a:t>
            </a:r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3219450" y="5391150"/>
            <a:ext cx="203835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75" b="0">
                <a:solidFill>
                  <a:srgbClr val="555555"/>
                </a:solidFill>
              </a:rPr>
              <a:t>well within noise</a:t>
            </a:r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5695950" y="4572000"/>
            <a:ext cx="2381250" cy="1123950"/>
          </a:xfrm>
          <a:prstGeom prst="rect">
            <a:avLst/>
          </a:prstGeom>
          <a:solidFill>
            <a:srgbClr val="FF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5867400" y="4724400"/>
            <a:ext cx="203835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555555"/>
                </a:solidFill>
              </a:rPr>
              <a:t>DIRECT MAIL TEST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5867400" y="4981575"/>
            <a:ext cx="203835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50" b="1">
                <a:solidFill>
                  <a:srgbClr val="000000"/>
                </a:solidFill>
              </a:rPr>
              <a:t>z = -3.02</a:t>
            </a:r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5867400" y="5391150"/>
            <a:ext cx="203835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75" b="0">
                <a:solidFill>
                  <a:srgbClr val="555555"/>
                </a:solidFill>
              </a:rPr>
              <a:t>still open (next slide)</a:t>
            </a:r>
          </a:p>
        </p:txBody>
      </p:sp>
    </p:spTree>
    <p:extLst>
      <p:ext uri="{BB962C8B-B14F-4D97-AF65-F5344CB8AC3E}">
        <p14:creationId xmlns:p14="http://schemas.microsoft.com/office/powerpoint/2010/main" val="1553142542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0050" y="361950"/>
            <a:ext cx="40005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 b="1">
                <a:solidFill>
                  <a:srgbClr val="555555"/>
                </a:solidFill>
              </a:rPr>
              <a:t>CALIBRATION LESSONS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" y="781050"/>
            <a:ext cx="8500000" cy="1009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150" b="1">
                <a:solidFill>
                  <a:srgbClr val="000000"/>
                </a:solidFill>
              </a:rPr>
              <a:t>Better R2 took three real fixes, not prior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50" y="1885950"/>
            <a:ext cx="8300000" cy="590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0">
                <a:solidFill>
                  <a:srgbClr val="555555"/>
                </a:solidFill>
              </a:rPr>
              <a:t>search_geo_holdout_q2 and direct_mail_match_q3 exposed gaps in how experiment metadata reached the fitted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50" y="6286500"/>
            <a:ext cx="113919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Rectangle 5"/>
          <p:cNvSpPr/>
          <p:nvPr/>
        </p:nvSpPr>
        <p:spPr>
          <a:xfrm>
            <a:off x="10096500" y="6419850"/>
            <a:ext cx="16954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>
                <a:solidFill>
                  <a:srgbClr val="555555"/>
                </a:solidFill>
              </a:rPr>
              <a:t>calmmm demo package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857500"/>
            <a:ext cx="762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971550" y="2781300"/>
            <a:ext cx="97917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0">
                <a:solidFill>
                  <a:srgbClr val="000000"/>
                </a:solidFill>
              </a:rPr>
              <a:t>1. Fit lift tests on their real experiment dates. The default demo fit only used 16 of the panel's 78 weeks and spliced each test's lift onto an unrelated 4-week window inside that subset.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543300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0" name="Rectangle 9"/>
          <p:cNvSpPr/>
          <p:nvPr/>
        </p:nvSpPr>
        <p:spPr>
          <a:xfrm>
            <a:off x="971550" y="3467100"/>
            <a:ext cx="97917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0">
                <a:solidFill>
                  <a:srgbClr val="000000"/>
                </a:solidFill>
              </a:rPr>
              <a:t>2. Size standard errors to genuine uncertainty. search_geo_holdout_q2's se=260 was far tighter than the gap between its observed and model-implied lift, forcing MAP to distort the search response curve (r2_applications: 0.48 -&gt; 0.96).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229100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971550" y="4152900"/>
            <a:ext cx="97917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0">
                <a:solidFill>
                  <a:srgbClr val="000000"/>
                </a:solidFill>
              </a:rPr>
              <a:t>3. Wire calibration_likelihood per test. from_dataframe() silently ignored the CSV's per-row column, so direct_mail_match_q3's student_t setting was never actually applied until fixed (z: -3.75 -&gt; -3.02).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900" y="4991100"/>
            <a:ext cx="9791700" cy="838200"/>
          </a:xfrm>
          <a:prstGeom prst="rect">
            <a:avLst/>
          </a:prstGeom>
          <a:solidFill>
            <a:srgbClr val="FF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000000"/>
                </a:solidFill>
              </a:rPr>
              <a:t>Still open: direct_mail_match_q3 z = -3.02</a:t>
            </a:r>
          </a:p>
          <a:p>
            <a:pPr algn="l"/>
            <a:r>
              <a:rPr sz="1100">
                <a:solidFill>
                  <a:srgbClr val="555555"/>
                </a:solidFill>
              </a:rPr>
              <a:t>The unconstrained model credits more funded_revenue to search than the experiment found for direct_mail -- a genuine attribution question, not a plumbing bug. Not forced to zero; flagged for follow-up.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333A7-5A76-49B6-98DE-D2EFA81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F75DF-1F3C-477C-99BE-FF359B1B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Outputs translate fit parameters into business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7D747-1CE9-432E-9730-D50DDF8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The demo separates additive reporting contribution from marginal economic contribution.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A267E-BA84-46A6-912E-7D71B31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95300" y="280035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f77f93d0a543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4076E-118F-47DC-979E-EEE4836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ROI index by channel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74D17-14DE-44BA-A249-3A438882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Decision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9447E-6392-4F06-9D62-5E76537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FCD17-DC2E-4A5D-A41A-F3806FE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channel_contributions(fit): additive decomposition for reporting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7AEFD-729B-42B2-A5DC-FA4FA620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BDDE3-373E-4F2A-ACB6-8D989C20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marginal_contributions(fit): counterfactual lift for economics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0CCA9-4161-45E5-B3DF-C0E37BA8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51854-3D73-454A-BECB-E7FE0E6C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compute_roi(fit): incremental outcome divided by 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3F19C-13A9-4932-974B-25A82C1B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71911-3567-4736-901C-3F7CAFAA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saturation_curve(fit, channel): diminishing returns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0F165-6689-4E94-874D-F8C2FE76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7</a:t>
            </a:r>
          </a:p>
        </p:txBody>
      </p:sp>
    </p:spTree>
    <p:extLst>
      <p:ext uri="{BB962C8B-B14F-4D97-AF65-F5344CB8AC3E}">
        <p14:creationId xmlns:p14="http://schemas.microsoft.com/office/powerpoint/2010/main" val="1583208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4BFE9-F746-4ACC-9D1A-278C527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RUNBOOK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EC6F5-DBF0-4956-BFF0-3EDA0B8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Swap synthetic inputs for production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137E-58A5-4469-9A71-B8E7DB0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The same package path works once your weekly panel and experiment metadata conform to the schema.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2D191-CB1F-4563-B50A-072FCF04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641E5-56C9-43DC-BA6A-7E28B1E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D2B57-FAEA-4FE9-8F61-7F65A0E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1. Validate one row per week x geo and stable KPI definitions.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59FF7-1921-475F-B8D7-4FB1EA1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CB052-AFD7-487F-A323-AAB38096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2. Map channel spend and exposure columns explicitly.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B5C54-149E-4DF8-83A1-7C7F318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27532-E267-47CD-90A6-B6C1FF3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3. Add lift tests with channel, KPI, geos, window, lift, and 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17D4A-1381-4ADB-BA59-E30E1123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23F01-1832-4221-A391-988A84C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4. Start with MAP for smoke tests; use MCMC for production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6014A-F20A-47C8-AA65-7B5FE9E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CF6D2-4FDB-4394-8D05-70B564B2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5. Review holdout metrics, calibration z-scores, ROI, and saturation before recommendations.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1D670-43A8-4D55-9B8F-910E8B5C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Generated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C8F76-C043-4915-89E3-9332432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102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calmmm_sample_weekly_panel.csv   |   calmmm_sample_lift_tests.csv   |   calmmm_demo_walkthrough.pptx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62B4C-CB10-494B-9DE5-C517FC7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calmmm demo package / 8</a:t>
            </a:r>
          </a:p>
        </p:txBody>
      </p:sp>
    </p:spTree>
    <p:extLst>
      <p:ext uri="{BB962C8B-B14F-4D97-AF65-F5344CB8AC3E}">
        <p14:creationId xmlns:p14="http://schemas.microsoft.com/office/powerpoint/2010/main" val="1581797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2026-06-29T19:24:46.2430000Z</dcterms:created>
  <dcterms:modified xsi:type="dcterms:W3CDTF">2026-06-29T19:24:46.2430000Z</dcterms:modified>
</coreProperties>
</file>