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50000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EXECUTIVE BRIEFING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900000"/>
            <a:ext cx="10800000" cy="1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000000"/>
                </a:solidFill>
                <a:latin typeface="Calibri Light"/>
              </a:rPr>
              <a:t>Measuring What Marketing Spend</a:t>
            </a:r>
            <a:br/>
            <a:r>
              <a:rPr sz="3600" b="1">
                <a:solidFill>
                  <a:srgbClr val="000000"/>
                </a:solidFill>
                <a:latin typeface="Calibri Light"/>
              </a:rPr>
              <a:t>Actually Drives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2350000"/>
            <a:ext cx="102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A validated view of how Search, Social, Direct Mail, and Affiliate spend convert into applications and funded revenue.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50" y="2857500"/>
            <a:ext cx="2596650" cy="11239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3009900"/>
            <a:ext cx="225375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TIME HORIZON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3267075"/>
            <a:ext cx="225375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000000"/>
                </a:solidFill>
                <a:latin typeface="Calibri Light"/>
              </a:rPr>
              <a:t>78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3676650"/>
            <a:ext cx="225375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4 regions, all channels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30050" y="2857500"/>
            <a:ext cx="2596650" cy="11239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01500" y="3009900"/>
            <a:ext cx="225375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CHANNELS MEASURED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01500" y="3267075"/>
            <a:ext cx="225375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000000"/>
                </a:solidFill>
                <a:latin typeface="Calibri Light"/>
              </a:rPr>
              <a:t>4 channels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01500" y="3676650"/>
            <a:ext cx="225375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Search, Social, Direct Mail, Affiliate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60050" y="2857500"/>
            <a:ext cx="2596650" cy="11239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1500" y="3009900"/>
            <a:ext cx="225375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1500" y="3267075"/>
            <a:ext cx="225375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000000"/>
                </a:solidFill>
                <a:latin typeface="Calibri Light"/>
              </a:rPr>
              <a:t>2 live experiments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1500" y="3676650"/>
            <a:ext cx="225375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Independent market 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0050" y="2857500"/>
            <a:ext cx="2596650" cy="11239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61500" y="3009900"/>
            <a:ext cx="225375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OUTCOMES TRACKED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61500" y="3267075"/>
            <a:ext cx="225375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000000"/>
                </a:solidFill>
                <a:latin typeface="Calibri Light"/>
              </a:rPr>
              <a:t>Apps + Revenue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61500" y="3676650"/>
            <a:ext cx="225375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Full funnel, region by region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451485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1550" y="443865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Ties marketing spend directly to business outcomes, not just clicks or impressions.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489485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1550" y="481865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Checked against real market experiments, not only historical patterns.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" y="527485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1550" y="519865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Built to guide budget decisions with a quantified level of confidence.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Is our marketing spend working — and where</a:t>
            </a:r>
            <a:br/>
            <a:r>
              <a:rPr sz="3150" b="1">
                <a:solidFill>
                  <a:srgbClr val="000000"/>
                </a:solidFill>
                <a:latin typeface="Calibri Light"/>
              </a:rPr>
              <a:t>should the next dollar 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Across four channels and two outcomes, we need one model that tells us what's driving results, not four disconnected views.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50" y="2971800"/>
            <a:ext cx="53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555555"/>
                </a:solidFill>
                <a:latin typeface="Calibri"/>
              </a:rPr>
              <a:t>WITHOUT A VALIDATED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1900" y="2971800"/>
            <a:ext cx="53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6B35"/>
                </a:solidFill>
                <a:latin typeface="Calibri"/>
              </a:rPr>
              <a:t>WITH A VALIDATED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76250" y="3471800"/>
            <a:ext cx="76200" cy="76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9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Budget calls rely on gut feel or last-touch attribution.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250" y="4091800"/>
            <a:ext cx="76200" cy="76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01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No clean way to separate correlation from cause and effect.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250" y="4711800"/>
            <a:ext cx="76200" cy="76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63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Channel performance gets debated, not settled.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68100" y="347180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77650" y="339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Spend is tied to applications and revenue, region by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8100" y="409180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77650" y="401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Model predictions are checked against real controlled experiments.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68100" y="471180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77650" y="463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A clear, quantified view of what's actually working.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1238" y="2971800"/>
            <a:ext cx="9525" cy="2200000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HOW WE VALIDATE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We check the model against real market tests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Two independent experiments — a search geo-holdout and a direct-mail matched-market test — tell us whether the model's math matches what actually happened.</a:t>
            </a:r>
          </a:p>
        </p:txBody>
      </p:sp>
      <p:pic>
        <p:nvPicPr>
          <p:cNvPr id="5" name="Picture 4" descr="calibration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2971800"/>
            <a:ext cx="5495000" cy="2077787"/>
          </a:xfrm>
          <a:prstGeom prst="rect">
            <a:avLst/>
          </a:prstGeom>
        </p:spPr>
      </p:pic>
      <p:pic>
        <p:nvPicPr>
          <p:cNvPr id="6" name="Picture 5" descr="calibration_direct_m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50" y="2971800"/>
            <a:ext cx="5495000" cy="20777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HEADLINE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Model accuracy roughly doubled for applications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We fixed how the model incorporated real-world experiment data. The result: substantially more trustworthy predictions, especially for applications.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50" y="3200000"/>
            <a:ext cx="3400000" cy="14000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3352400"/>
            <a:ext cx="30571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APPLICATIONS ACCURACY (BEFORE)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3609575"/>
            <a:ext cx="305710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000000"/>
                </a:solidFill>
                <a:latin typeface="Calibri Light"/>
              </a:rPr>
              <a:t>48%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4019150"/>
            <a:ext cx="3057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of week-to-week movement explained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00050" y="3650000"/>
            <a:ext cx="9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6B35"/>
                </a:solidFill>
                <a:latin typeface="Calibri Light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050" y="3200000"/>
            <a:ext cx="3400000" cy="1400000"/>
          </a:xfrm>
          <a:prstGeom prst="rect">
            <a:avLst/>
          </a:prstGeom>
          <a:solidFill>
            <a:srgbClr val="FF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71500" y="3352400"/>
            <a:ext cx="30571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APPLICATIONS ACCURACY (NOW)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1500" y="3609575"/>
            <a:ext cx="305710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000000"/>
                </a:solidFill>
                <a:latin typeface="Calibri Light"/>
              </a:rPr>
              <a:t>96%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71500" y="4019150"/>
            <a:ext cx="3057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of week-to-week movement explained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" y="4900000"/>
            <a:ext cx="3400000" cy="14000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1500" y="5052400"/>
            <a:ext cx="30571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FUNDED REVENUE ACCURACY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5309575"/>
            <a:ext cx="305710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000000"/>
                </a:solidFill>
                <a:latin typeface="Calibri Light"/>
              </a:rPr>
              <a:t>97%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5719150"/>
            <a:ext cx="3057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already strong — confirmed stable through this update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00050" y="5000000"/>
            <a:ext cx="7700000" cy="1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See the next page for what this improvement looks like week by week.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SEE IT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The model's fitted line tracks real application volume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Every week, every region, summed to a national view — this is what a 96% accuracy score looks like in practice.</a:t>
            </a:r>
          </a:p>
        </p:txBody>
      </p:sp>
      <p:pic>
        <p:nvPicPr>
          <p:cNvPr id="5" name="Picture 4" descr="fit_line_appl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419" y="2650000"/>
            <a:ext cx="7683161" cy="35864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CHANNEL ROI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Search and Social show the strongest validated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Revenue return per dollar spent, with confidence based on how well each channel's results match independent evidence.</a:t>
            </a:r>
          </a:p>
        </p:txBody>
      </p:sp>
      <p:pic>
        <p:nvPicPr>
          <p:cNvPr id="5" name="Picture 4" descr="revenue_r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2650000"/>
            <a:ext cx="4600000" cy="23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00050" y="5190000"/>
            <a:ext cx="66675" cy="66675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0550" y="5150000"/>
            <a:ext cx="10800000" cy="26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Search &amp; Social: high confidence — confirmed by experiment, stable across the model.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50" y="5530000"/>
            <a:ext cx="66675" cy="66675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0550" y="5490000"/>
            <a:ext cx="10800000" cy="26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Direct Mail: medium confidence — directionally consistent, still reconciling with its experiment.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" y="5870000"/>
            <a:ext cx="66675" cy="66675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0550" y="5830000"/>
            <a:ext cx="10800000" cy="26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Affiliate: excluded — spend share too small for a reliable estimate yet.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Use these results to guide Search and Social budget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Direct Mail and Affiliate need one more validation cycle before we act on their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97180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1550" y="289560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Shift incremental budget testing toward Search and Social, where the model and the live experiment agree.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67180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71550" y="359560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Hold Direct Mail budget decisions to directional guidance only, until the next validation check closes the gap.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437180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1550" y="429560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Commission a small experiment for Affiliate and Social to bring them to the same confidence level as Search.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507180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1550" y="499560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Refresh this model each quarter as new experiment data lands.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